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Analytics and Planning on Fiori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System design, and how it compares with SAP Analytics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CE7F3"/>
                </a:solidFill>
              </a:rPr>
              <a:t>Prepared for Wilmar  |  6 October 2026  |  Status: working on sample data and on a real S/4HANA Cloud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Why this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Planning and analysis on S/4HANA data today needs a second product (SAC) with its own license, connections, transports and security.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Question: how much of the SAC working model can run inside the ERP landscape, on the ERP's own authorizations?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Answer so far: stories, analysis, models, planning with versions, data actions, multi actions, CDS data sources, variance analysis.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Scope of this deck: the system design, and an honest comparison with the real SAC (advantages and gaps).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it does (current release)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Stories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Pages, grid designer, charts, KPI, tables, input controls, planning table, action triggers, variance widget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Models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SAC style Modeller: measures, dimensions, hierarchies, Date hierarchy, CSV import, CDS source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Editable table, spreading, formulas, copy and paste, versions, publish, history, comments on 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Data actions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Designer, parameters, copy, allocation, scale, delete, embedded action; validate, trace, run history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Multi 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Parameters, data action, publish, version, lock, CSV import, forecast, API, PaPM hook, comments, source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CDS sources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Standard or custom CDS view as live (read only) or import source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Why did a measure change between versions or months, by every dimension, with drill-down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System design: 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50292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Browser: UI5 1.136 (Fiori, freestyle app zsac.fiori)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64240" cy="123444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zsac.lib (reusable UI5 library):  core engines (query, hierarchy, variance)   |   widgets and designer   |   planning (buffer, grid, versions)   |   data actions and multi actions   |  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66160"/>
            <a:ext cx="3383280" cy="822960"/>
          </a:xfrm>
          <a:prstGeom prst="roundRect">
            <a:avLst/>
          </a:prstGeom>
          <a:solidFill>
            <a:srgbClr val="F5F5F5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MockProvider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sample data, browser storage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566160"/>
            <a:ext cx="3566160" cy="822960"/>
          </a:xfrm>
          <a:prstGeom prst="roundRect">
            <a:avLst/>
          </a:prstGeom>
          <a:solidFill>
            <a:srgbClr val="0A6ED1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ODataV4Provider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models, stories, versions, facts, actions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566160"/>
            <a:ext cx="3291840" cy="822960"/>
          </a:xfrm>
          <a:prstGeom prst="roundRect">
            <a:avLst/>
          </a:prstGeom>
          <a:solidFill>
            <a:srgbClr val="0A6ED1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LiveSource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any CDS view as OData V4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846320"/>
            <a:ext cx="3566160" cy="91440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ABAP RAP backend (S/4HANA Cloud)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service ZUI_SAC_O4, tables ZSAC_*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4846320"/>
            <a:ext cx="3291840" cy="91440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CDS view (standard or custom)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wrapper view + service binding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200400"/>
            <a:ext cx="0" cy="36576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72200" y="3200400"/>
            <a:ext cx="0" cy="36576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966960" y="3200400"/>
            <a:ext cx="0" cy="36576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72200" y="4389120"/>
            <a:ext cx="0" cy="45720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966960" y="4389120"/>
            <a:ext cx="0" cy="45720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</a:rPr>
              <a:t>Pages and widgets only know the DataProvider contract. The browser works on facts; aggregation is one shared engine, so sample data and backend behave the same.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6ED1"/>
                </a:solidFill>
              </a:rPr>
              <a:t>How it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Modular: library zsac.lib is usable by any Fiori app; widgets and data sources are plug-ins registered in one place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Metadata is data: models, stories, actions and files are rows edited by the same UI that shows them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Generic fact table: version, period, measure and five dimension slots, so any model fits one RAP schema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Provider contract: mock for development and tests, OData V4 for the backend, CDS for external data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Generated backend: one description produces CDS, behavior and abapGit files; handlers by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4D8C"/>
                </a:solidFill>
              </a:rPr>
              <a:t>Consequences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Every feature can be tried and tested without a backend (77 unit tests)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Backend stays small: tables, business objects, two engines, a seed class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Calculations (actions, forecast, variance) run in the browser: easy to change, bounded by browser memory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The ERP stays the system of record for authorization and plan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 sources: live and import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743200" cy="109728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CDS view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(standard or custom)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wrapped, aggregating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63040"/>
            <a:ext cx="2743200" cy="109728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OData V4 service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service definition +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binding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463040"/>
            <a:ext cx="2011680" cy="1097280"/>
          </a:xfrm>
          <a:prstGeom prst="roundRect">
            <a:avLst/>
          </a:prstGeom>
          <a:solidFill>
            <a:srgbClr val="0A6ED1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LiveSource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mapping, $apply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868680"/>
            <a:ext cx="1920240" cy="91440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LIVE model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read only, one version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2240280"/>
            <a:ext cx="1920240" cy="91440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IMPORT model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versions,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4023360"/>
            <a:ext cx="4480560" cy="91440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Multi action step 'Import from Source' or Modeller button: months, replace or update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0" y="2011680"/>
            <a:ext cx="54864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011680"/>
            <a:ext cx="54864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144000" y="1325880"/>
            <a:ext cx="548640" cy="50292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2194560"/>
            <a:ext cx="548640" cy="50292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52760" y="3154680"/>
            <a:ext cx="0" cy="86868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</a:rPr>
              <a:t>The service aggregates (groupby, aggregate); if it cannot, the app reads the rows and aggregates itself. Access control of the CDS view applies to the user who reads. Tested on a G/L view with 1,092 rows, two currencies.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Backend (ABAP RAP)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611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Part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ZSAC_FILE, STORY, WIDGET, MODEL, DIM, MEASURE, VERSION, FACT, DATAACT, DASTEP, MULTIACT, MASTEP, RUN, COMMENT, CALTASK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Business objects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Managed RAP, strict(2), no draft; compositions Story-Widget, Model-Dim/Measure, Action-Step; one request writes root and children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Version: create private, publish, revert. Fact: bulk write and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Rules on the server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Locked versions are not written; model structure checked on save; keys given by the caller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sap_spec.py to CDS, behavior, projections, service definition, abapGit 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Service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ZUI_SAC_O4 (OData V4 UI); UI5 app deployed as ZSAC_FIORI; launchpad descriptor after deployment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Landscape and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91440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GitHub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ZDEMO_SAC_FIORI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371600"/>
            <a:ext cx="3108960" cy="914400"/>
          </a:xfrm>
          <a:prstGeom prst="roundRect">
            <a:avLst/>
          </a:prstGeom>
          <a:solidFill>
            <a:srgbClr val="0A6ED1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ADT + abapGit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pull, activate, seed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371600"/>
            <a:ext cx="3931920" cy="914400"/>
          </a:xfrm>
          <a:prstGeom prst="roundRect">
            <a:avLst/>
          </a:prstGeom>
          <a:solidFill>
            <a:srgbClr val="0A4D8C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S/4HANA Cloud (client 100)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RAP service, CDS views, IAM apps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3291840"/>
            <a:ext cx="3108960" cy="914400"/>
          </a:xfrm>
          <a:prstGeom prst="roundRect">
            <a:avLst/>
          </a:prstGeom>
          <a:solidFill>
            <a:srgbClr val="0A6ED1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Business Application Studio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npm start / deploy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291840"/>
            <a:ext cx="3931920" cy="91440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BTP destination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proxy to the S/4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2743200" cy="914400"/>
          </a:xfrm>
          <a:prstGeom prst="roundRect">
            <a:avLst/>
          </a:prstGeom>
          <a:solidFill>
            <a:srgbClr val="EAF1F8"/>
          </a:solidFill>
          <a:ln>
            <a:solidFill>
              <a:srgbClr val="B6C4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D2D3E"/>
                </a:solidFill>
              </a:rPr>
              <a:t>Browser / Launchpad</a:t>
            </a:r>
          </a:p>
          <a:p>
            <a:pPr algn="ctr"/>
            <a:r>
              <a:rPr sz="1200" b="0">
                <a:solidFill>
                  <a:srgbClr val="1D2D3E"/>
                </a:solidFill>
              </a:rPr>
              <a:t>user session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0" y="1828800"/>
            <a:ext cx="64008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1828800"/>
            <a:ext cx="64008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40680" y="2286000"/>
            <a:ext cx="0" cy="100584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3749039"/>
            <a:ext cx="64008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646920" y="2286000"/>
            <a:ext cx="0" cy="100584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291840" y="3749039"/>
            <a:ext cx="640080" cy="0"/>
          </a:xfrm>
          <a:prstGeom prst="line">
            <a:avLst/>
          </a:prstGeom>
          <a:ln w="22225">
            <a:solidFill>
              <a:srgbClr val="5A6B7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</a:rPr>
              <a:t>Same code for mock, BAS test and deployment. A relative service URL lets the proxy or the launchpad add host and login. Where abapGit is not available the ABAP is entered by hand (a short list of changes).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Security and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07E3E"/>
                </a:solidFill>
              </a:rPr>
              <a:t>In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Calls run under the user's own session; CDS access control applies to live and import reads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Custom services need an IAM app, business catalog and role (S/4HANA Cloud public edition)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Locked versions refuse writes on the server and in every engine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Every action run is recorded (status, counts, duration, user, parameters)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Data audit and comments carry user and time from the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25A00"/>
                </a:solidFill>
              </a:rPr>
              <a:t>Not in place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No owner or sharing rules for stories and models (open to all users of the service)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No row level security on plan data (only on CDS source reads)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No server job: actions run in the browser of the user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No transport of content except through abapGit and the seed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API step runs from the browser: no stored credentials, CORS applies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Stories: charts, KPIs, input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10</a:t>
            </a:r>
          </a:p>
        </p:txBody>
      </p:sp>
      <p:pic>
        <p:nvPicPr>
          <p:cNvPr id="5" name="Picture 4" descr="03-story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639" y="1188720"/>
            <a:ext cx="790041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</a:rPr>
              <a:t>Story viewer on the sample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Planning: edit, spread, comment, publish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11</a:t>
            </a:r>
          </a:p>
        </p:txBody>
      </p:sp>
      <p:pic>
        <p:nvPicPr>
          <p:cNvPr id="5" name="Picture 4" descr="06-planning-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639" y="1188720"/>
            <a:ext cx="790041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</a:rPr>
              <a:t>Editable planning table; the orange corner marks a cell with a comment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 actions: designer with step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12</a:t>
            </a:r>
          </a:p>
        </p:txBody>
      </p:sp>
      <p:pic>
        <p:nvPicPr>
          <p:cNvPr id="5" name="Picture 4" descr="11-data-action-desig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639" y="1188720"/>
            <a:ext cx="790041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</a:rPr>
              <a:t>Step flow on the left, step editor on the right; validate, trace and run on the toolbar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Variance explainer: why did it change?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13</a:t>
            </a:r>
          </a:p>
        </p:txBody>
      </p:sp>
      <p:pic>
        <p:nvPicPr>
          <p:cNvPr id="5" name="Picture 4" descr="05-variance-expl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639" y="1188720"/>
            <a:ext cx="790041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2636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</a:rPr>
              <a:t>Headline, named drivers, ranked dimensions, bars to drill into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Tested on the real system (S/4HANA Cloud, OData V4)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Backend reads, live CDS model, story with filters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Save model (deep insert), versions, import of 1,092 values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Lock and unlock (PATCH), data kept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Data action with parameters: dry run and run (329 facts)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Works, result checked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Multi action: data action, lock, forecast, comments, source import, CSV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 (8 steps, 85 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Planning edit and publish, cell comments, variance explainer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Works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Create private version (server action)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Fails until two ABAP lines are changed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API and PaPM steps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D2D3E"/>
                          </a:solidFill>
                        </a:rPr>
                        <a:t>As designed: target 401 reported, PaPM not connected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Versus real SAC: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15567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840480"/>
                <a:gridCol w="37490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This app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SAC</a:t>
                      </a:r>
                    </a:p>
                  </a:txBody>
                  <a:tcPr>
                    <a:solidFill>
                      <a:srgbClr val="0A4D8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Stories, analysis, models, hierarchies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Core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Complete, mature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Planning with versions, publish, history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Yes, plus workflows and calendar approvals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Data 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Copy, allocate, scale, delete, embed,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Plus advanced formulas, currency conversion, cross-model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Multi actions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10 step types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Similar, more connectors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Predictive / ML, Smart Insights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Statistical forecast, variance explainer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Smart Predict, Smart Insights, Just 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Scripting, custom widgets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Widget registry in code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Analytics Designer scripting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Mobile, Excel add-in, subscriptions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Data connections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CDS via OData V4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Live and import, many sources incl. BW, S/4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Browser memory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D2D3E"/>
                          </a:solidFill>
                        </a:rPr>
                        <a:t>Server side, large volumes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Advantages over using real SAC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07E3E"/>
                </a:solidFill>
              </a:rPr>
              <a:t>Pros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No extra product, license or tenant: runs in the S/4HANA landscape and the Fiori launchpad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One security model: the user's CDS access control, no gateway, SSO setup or connection admin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Plan data lives in the ERP (RAP tables): no replication, same transport and backup path, close to the source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Open and changeable: every step, widget and rule can be adapted in code in days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Tailored features: CDS live and import, variance explainer, multi action steps built for this use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Modular library reusable in other Fiori apps; sample mode for training and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00020"/>
                </a:solidFill>
              </a:rPr>
              <a:t>Cons: gaps compared with SAC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Far narrower scope: no Smart Predict, Smart Insights, Just Ask, mobile app, Excel add-in, subscriptions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Calculations run in the browser: large models and long multi actions are slow (85 s for 8 steps on 1,092 rows)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Owned code: we maintain it, no SAP support or release roadmap, UI5 and RAP upgrades are our work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Security and governance are basic: no sharing rules, no row level plan security, no content transport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Planning depth is smaller: no workflows or approvals, no advanced formulas, no currency conversion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Only validated on one system; ABAP needed hand fixes on a system without abapGit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When to use which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6ED1"/>
                </a:solidFill>
              </a:rPr>
              <a:t>Use this app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The data is in S/4HANA CDS views and the planning is modest: versions, allocations, forecasts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A second product or license is not wanted, or data may not leave the ERP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Users are already in Fiori and need a few tailored dashboards and plan tables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A fast, customizable pilot is wanted before a larger tool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40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4D8C"/>
                </a:solidFill>
              </a:rPr>
              <a:t>Use real SAC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440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Enterprise planning: workflows, approvals, many users, large data volumes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Many source systems (BW, non-SAP) are combined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Advanced analytics, predictive, natural language, mobile and Excel are required</a:t>
            </a:r>
          </a:p>
          <a:p>
            <a:pPr>
              <a:spcAft>
                <a:spcPts val="1050"/>
              </a:spcAft>
            </a:pPr>
            <a:r>
              <a:rPr sz="1500">
                <a:solidFill>
                  <a:srgbClr val="1D2D3E"/>
                </a:solidFill>
              </a:rPr>
              <a:t>•  SAP support, content governance and a product roadmap are required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A4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Status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A6B7D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Status: complete feature set on the sample data; verified on a real system except one ABAP fix (private versions).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1. Apply the ABAP fix on the system without abapGit, then test publish, revert, delete of private versions.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2. Decide the owner and sharing model (who sees which story and model) and add authorization.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3. Measure with realistic volume (CDS rows, facts per version) and decide whether actions need a server job.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4. Pilot with one finance team on the G/L model: live analysis first, then import and a budget version.</a:t>
            </a:r>
          </a:p>
          <a:p>
            <a:pPr>
              <a:spcAft>
                <a:spcPts val="1260"/>
              </a:spcAft>
            </a:pPr>
            <a:r>
              <a:rPr sz="1800">
                <a:solidFill>
                  <a:srgbClr val="1D2D3E"/>
                </a:solidFill>
              </a:rPr>
              <a:t>•  5. Decide against SAC with the pilot results: which gaps matter to the users.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